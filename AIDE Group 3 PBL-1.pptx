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11"/>
  </p:notesMasterIdLst>
  <p:sldIdLst>
    <p:sldId id="256" r:id="rId2"/>
    <p:sldId id="261" r:id="rId3"/>
    <p:sldId id="262" r:id="rId4"/>
    <p:sldId id="266" r:id="rId5"/>
    <p:sldId id="273" r:id="rId6"/>
    <p:sldId id="274" r:id="rId7"/>
    <p:sldId id="275" r:id="rId8"/>
    <p:sldId id="276" r:id="rId9"/>
    <p:sldId id="277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4201FC-771C-4C2C-9F92-E6210121629C}">
  <a:tblStyle styleId="{534201FC-771C-4C2C-9F92-E621012162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74" d="100"/>
          <a:sy n="174" d="100"/>
        </p:scale>
        <p:origin x="139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132c0d347fb_0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132c0d347fb_0_8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>
          <a:extLst>
            <a:ext uri="{FF2B5EF4-FFF2-40B4-BE49-F238E27FC236}">
              <a16:creationId xmlns:a16="http://schemas.microsoft.com/office/drawing/2014/main" id="{570956AB-3B29-5770-4F68-FDC1F3A5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132c0d347fb_0_885:notes">
            <a:extLst>
              <a:ext uri="{FF2B5EF4-FFF2-40B4-BE49-F238E27FC236}">
                <a16:creationId xmlns:a16="http://schemas.microsoft.com/office/drawing/2014/main" id="{BD6429AA-F194-9806-C963-726383E25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132c0d347fb_0_885:notes">
            <a:extLst>
              <a:ext uri="{FF2B5EF4-FFF2-40B4-BE49-F238E27FC236}">
                <a16:creationId xmlns:a16="http://schemas.microsoft.com/office/drawing/2014/main" id="{1BFA4FAA-A0E2-8FFC-BB05-C07ADD66C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616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>
          <a:extLst>
            <a:ext uri="{FF2B5EF4-FFF2-40B4-BE49-F238E27FC236}">
              <a16:creationId xmlns:a16="http://schemas.microsoft.com/office/drawing/2014/main" id="{D2B00C82-DD23-96CC-96A3-AC1AFD0B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132c0d347fb_0_885:notes">
            <a:extLst>
              <a:ext uri="{FF2B5EF4-FFF2-40B4-BE49-F238E27FC236}">
                <a16:creationId xmlns:a16="http://schemas.microsoft.com/office/drawing/2014/main" id="{94493151-56F1-001A-DA99-D6535768C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132c0d347fb_0_885:notes">
            <a:extLst>
              <a:ext uri="{FF2B5EF4-FFF2-40B4-BE49-F238E27FC236}">
                <a16:creationId xmlns:a16="http://schemas.microsoft.com/office/drawing/2014/main" id="{182B2990-EE82-449E-CFA2-5610F7A64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204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>
          <a:extLst>
            <a:ext uri="{FF2B5EF4-FFF2-40B4-BE49-F238E27FC236}">
              <a16:creationId xmlns:a16="http://schemas.microsoft.com/office/drawing/2014/main" id="{6BC00E24-1501-FEE5-8DCD-A56BD096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132c0d347fb_0_885:notes">
            <a:extLst>
              <a:ext uri="{FF2B5EF4-FFF2-40B4-BE49-F238E27FC236}">
                <a16:creationId xmlns:a16="http://schemas.microsoft.com/office/drawing/2014/main" id="{AEC27BDD-E6B7-12BB-C98E-47AC53A7E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132c0d347fb_0_885:notes">
            <a:extLst>
              <a:ext uri="{FF2B5EF4-FFF2-40B4-BE49-F238E27FC236}">
                <a16:creationId xmlns:a16="http://schemas.microsoft.com/office/drawing/2014/main" id="{ADC76931-0A67-D97D-795B-8F4D02EC1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76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>
          <a:extLst>
            <a:ext uri="{FF2B5EF4-FFF2-40B4-BE49-F238E27FC236}">
              <a16:creationId xmlns:a16="http://schemas.microsoft.com/office/drawing/2014/main" id="{2B24DEE8-ECFE-87D7-52AC-CEB4E430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132c0d347fb_0_885:notes">
            <a:extLst>
              <a:ext uri="{FF2B5EF4-FFF2-40B4-BE49-F238E27FC236}">
                <a16:creationId xmlns:a16="http://schemas.microsoft.com/office/drawing/2014/main" id="{803FCB3D-FA2D-BF32-788C-5E9BDDC81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132c0d347fb_0_885:notes">
            <a:extLst>
              <a:ext uri="{FF2B5EF4-FFF2-40B4-BE49-F238E27FC236}">
                <a16:creationId xmlns:a16="http://schemas.microsoft.com/office/drawing/2014/main" id="{132CDE46-2E6E-D593-8078-32FBCD8EA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095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>
          <a:extLst>
            <a:ext uri="{FF2B5EF4-FFF2-40B4-BE49-F238E27FC236}">
              <a16:creationId xmlns:a16="http://schemas.microsoft.com/office/drawing/2014/main" id="{F35E37DC-07DA-D32C-FDE1-106351F1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>
            <a:extLst>
              <a:ext uri="{FF2B5EF4-FFF2-40B4-BE49-F238E27FC236}">
                <a16:creationId xmlns:a16="http://schemas.microsoft.com/office/drawing/2014/main" id="{7DDAB29C-7EDC-1322-8184-676CFE7B3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>
            <a:extLst>
              <a:ext uri="{FF2B5EF4-FFF2-40B4-BE49-F238E27FC236}">
                <a16:creationId xmlns:a16="http://schemas.microsoft.com/office/drawing/2014/main" id="{92B0E3AE-6CBE-96B1-A791-42050892A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29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5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04" name="Google Shape;204;p5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05" name="Google Shape;20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6" name="Google Shape;20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7" name="Google Shape;20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8" name="Google Shape;20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9" name="Google Shape;20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0" name="Google Shape;21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1" name="Google Shape;21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2" name="Google Shape;21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3" name="Google Shape;21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4" name="Google Shape;21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5" name="Google Shape;21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16" name="Google Shape;21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7" name="Google Shape;21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8" name="Google Shape;21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9" name="Google Shape;21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0" name="Google Shape;22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1" name="Google Shape;22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2" name="Google Shape;22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3" name="Google Shape;22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24" name="Google Shape;224;p5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25" name="Google Shape;22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26" name="Google Shape;22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7" name="Google Shape;22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8" name="Google Shape;22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9" name="Google Shape;22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0" name="Google Shape;23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1" name="Google Shape;23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2" name="Google Shape;23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3" name="Google Shape;23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4" name="Google Shape;23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5" name="Google Shape;23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36" name="Google Shape;23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7" name="Google Shape;23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8" name="Google Shape;23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9" name="Google Shape;23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0" name="Google Shape;24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1" name="Google Shape;24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2" name="Google Shape;24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44" name="Google Shape;244;p5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45" name="Google Shape;24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46" name="Google Shape;24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" name="Google Shape;24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" name="Google Shape;24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9" name="Google Shape;24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0" name="Google Shape;25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1" name="Google Shape;25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2" name="Google Shape;25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3" name="Google Shape;25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4" name="Google Shape;25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55" name="Google Shape;25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56" name="Google Shape;25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7" name="Google Shape;25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8" name="Google Shape;25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9" name="Google Shape;25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0" name="Google Shape;26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1" name="Google Shape;26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2" name="Google Shape;26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3" name="Google Shape;26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64" name="Google Shape;264;p5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65" name="Google Shape;26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66" name="Google Shape;26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7" name="Google Shape;26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9" name="Google Shape;26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0" name="Google Shape;27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2" name="Google Shape;27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3" name="Google Shape;27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4" name="Google Shape;27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75" name="Google Shape;27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76" name="Google Shape;27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7" name="Google Shape;27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8" name="Google Shape;27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9" name="Google Shape;27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0" name="Google Shape;28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1" name="Google Shape;28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2" name="Google Shape;28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3" name="Google Shape;28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84" name="Google Shape;284;p5"/>
          <p:cNvSpPr/>
          <p:nvPr/>
        </p:nvSpPr>
        <p:spPr>
          <a:xfrm rot="10800000" flipH="1">
            <a:off x="4669125" y="4263572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5"/>
          <p:cNvSpPr/>
          <p:nvPr/>
        </p:nvSpPr>
        <p:spPr>
          <a:xfrm rot="10800000" flipH="1">
            <a:off x="4144582" y="4693112"/>
            <a:ext cx="221100" cy="2157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5"/>
          <p:cNvSpPr txBox="1">
            <a:spLocks noGrp="1"/>
          </p:cNvSpPr>
          <p:nvPr>
            <p:ph type="subTitle" idx="1"/>
          </p:nvPr>
        </p:nvSpPr>
        <p:spPr>
          <a:xfrm>
            <a:off x="1334700" y="2025313"/>
            <a:ext cx="3017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subTitle" idx="2"/>
          </p:nvPr>
        </p:nvSpPr>
        <p:spPr>
          <a:xfrm>
            <a:off x="1334700" y="2399700"/>
            <a:ext cx="3017400" cy="14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ubTitle" idx="3"/>
          </p:nvPr>
        </p:nvSpPr>
        <p:spPr>
          <a:xfrm>
            <a:off x="4791900" y="2025313"/>
            <a:ext cx="3017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89" name="Google Shape;289;p5"/>
          <p:cNvSpPr txBox="1">
            <a:spLocks noGrp="1"/>
          </p:cNvSpPr>
          <p:nvPr>
            <p:ph type="subTitle" idx="4"/>
          </p:nvPr>
        </p:nvSpPr>
        <p:spPr>
          <a:xfrm>
            <a:off x="4791911" y="2399700"/>
            <a:ext cx="3017400" cy="14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5"/>
          <p:cNvSpPr txBox="1">
            <a:spLocks noGrp="1"/>
          </p:cNvSpPr>
          <p:nvPr>
            <p:ph type="title"/>
          </p:nvPr>
        </p:nvSpPr>
        <p:spPr>
          <a:xfrm>
            <a:off x="541875" y="339325"/>
            <a:ext cx="8061600" cy="7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1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899" name="Google Shape;899;p1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00" name="Google Shape;90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01" name="Google Shape;90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2" name="Google Shape;90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3" name="Google Shape;90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5" name="Google Shape;90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6" name="Google Shape;90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7" name="Google Shape;90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9" name="Google Shape;90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10" name="Google Shape;91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11" name="Google Shape;91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2" name="Google Shape;91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3" name="Google Shape;91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4" name="Google Shape;91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5" name="Google Shape;91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6" name="Google Shape;91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1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20" name="Google Shape;92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21" name="Google Shape;92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0" name="Google Shape;93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31" name="Google Shape;93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1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40" name="Google Shape;94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41" name="Google Shape;94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2" name="Google Shape;94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6" name="Google Shape;94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7" name="Google Shape;94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0" name="Google Shape;95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51" name="Google Shape;95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2" name="Google Shape;95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9" name="Google Shape;959;p1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60" name="Google Shape;96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61" name="Google Shape;96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2" name="Google Shape;96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3" name="Google Shape;96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4" name="Google Shape;96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5" name="Google Shape;96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6" name="Google Shape;96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7" name="Google Shape;96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8" name="Google Shape;96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9" name="Google Shape;96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70" name="Google Shape;97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71" name="Google Shape;97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2" name="Google Shape;97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5" name="Google Shape;97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7" name="Google Shape;97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8" name="Google Shape;97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79" name="Google Shape;979;p16"/>
          <p:cNvSpPr txBox="1">
            <a:spLocks noGrp="1"/>
          </p:cNvSpPr>
          <p:nvPr>
            <p:ph type="subTitle" idx="1"/>
          </p:nvPr>
        </p:nvSpPr>
        <p:spPr>
          <a:xfrm>
            <a:off x="71322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0" name="Google Shape;980;p16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16"/>
          <p:cNvSpPr txBox="1">
            <a:spLocks noGrp="1"/>
          </p:cNvSpPr>
          <p:nvPr>
            <p:ph type="subTitle" idx="3"/>
          </p:nvPr>
        </p:nvSpPr>
        <p:spPr>
          <a:xfrm>
            <a:off x="2697450" y="3039978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subTitle" idx="4"/>
          </p:nvPr>
        </p:nvSpPr>
        <p:spPr>
          <a:xfrm>
            <a:off x="2697450" y="3378023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subTitle" idx="5"/>
          </p:nvPr>
        </p:nvSpPr>
        <p:spPr>
          <a:xfrm>
            <a:off x="468168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/>
          <p:nvPr/>
        </p:nvSpPr>
        <p:spPr>
          <a:xfrm>
            <a:off x="4979394" y="46336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8" name="Google Shape;1958;p28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959" name="Google Shape;1959;p28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60" name="Google Shape;196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61" name="Google Shape;196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2" name="Google Shape;196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5" name="Google Shape;196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6" name="Google Shape;196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7" name="Google Shape;196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8" name="Google Shape;196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9" name="Google Shape;196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70" name="Google Shape;197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71" name="Google Shape;197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2" name="Google Shape;197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3" name="Google Shape;197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4" name="Google Shape;197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5" name="Google Shape;197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6" name="Google Shape;197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7" name="Google Shape;197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8" name="Google Shape;197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79" name="Google Shape;1979;p28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80" name="Google Shape;198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81" name="Google Shape;198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2" name="Google Shape;198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3" name="Google Shape;198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4" name="Google Shape;198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5" name="Google Shape;198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6" name="Google Shape;198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7" name="Google Shape;198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8" name="Google Shape;198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9" name="Google Shape;198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90" name="Google Shape;199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91" name="Google Shape;199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2" name="Google Shape;199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3" name="Google Shape;199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4" name="Google Shape;199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5" name="Google Shape;199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6" name="Google Shape;199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7" name="Google Shape;199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8" name="Google Shape;199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9" name="Google Shape;1999;p28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00" name="Google Shape;200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01" name="Google Shape;200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2" name="Google Shape;200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3" name="Google Shape;200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4" name="Google Shape;200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5" name="Google Shape;200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6" name="Google Shape;200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7" name="Google Shape;200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8" name="Google Shape;200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9" name="Google Shape;200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10" name="Google Shape;201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11" name="Google Shape;201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2" name="Google Shape;201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3" name="Google Shape;201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4" name="Google Shape;201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5" name="Google Shape;201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6" name="Google Shape;201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7" name="Google Shape;201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8" name="Google Shape;201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21" name="Google Shape;202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4" name="Google Shape;202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5" name="Google Shape;202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6" name="Google Shape;202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7" name="Google Shape;202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8" name="Google Shape;202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9" name="Google Shape;202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30" name="Google Shape;203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31" name="Google Shape;203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2" name="Google Shape;203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3" name="Google Shape;203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4" name="Google Shape;203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5" name="Google Shape;203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6" name="Google Shape;203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7" name="Google Shape;203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8" name="Google Shape;203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039" name="Google Shape;2039;p28"/>
          <p:cNvGrpSpPr/>
          <p:nvPr/>
        </p:nvGrpSpPr>
        <p:grpSpPr>
          <a:xfrm flipH="1">
            <a:off x="146539" y="131297"/>
            <a:ext cx="734748" cy="952069"/>
            <a:chOff x="7465916" y="720492"/>
            <a:chExt cx="1139144" cy="1477450"/>
          </a:xfrm>
        </p:grpSpPr>
        <p:sp>
          <p:nvSpPr>
            <p:cNvPr id="2040" name="Google Shape;2040;p28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8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8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8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8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8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6" name="Google Shape;2046;p28"/>
          <p:cNvSpPr/>
          <p:nvPr/>
        </p:nvSpPr>
        <p:spPr>
          <a:xfrm>
            <a:off x="8401572" y="4586124"/>
            <a:ext cx="431700" cy="4203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28"/>
          <p:cNvSpPr/>
          <p:nvPr/>
        </p:nvSpPr>
        <p:spPr>
          <a:xfrm>
            <a:off x="8768224" y="43224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5" r:id="rId3"/>
    <p:sldLayoutId id="2147483658" r:id="rId4"/>
    <p:sldLayoutId id="2147483662" r:id="rId5"/>
    <p:sldLayoutId id="2147483674" r:id="rId6"/>
    <p:sldLayoutId id="2147483675" r:id="rId7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539126" y="701984"/>
            <a:ext cx="8063087" cy="261364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-27352" y="1301221"/>
            <a:ext cx="9196039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AI-Driven Decision Making Dashboard</a:t>
            </a:r>
            <a:endParaRPr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123265" y="3689800"/>
            <a:ext cx="1717118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- 3</a:t>
            </a:r>
            <a:endParaRPr dirty="0"/>
          </a:p>
        </p:txBody>
      </p:sp>
      <p:sp>
        <p:nvSpPr>
          <p:cNvPr id="2082" name="Google Shape;2082;p33"/>
          <p:cNvSpPr/>
          <p:nvPr/>
        </p:nvSpPr>
        <p:spPr>
          <a:xfrm>
            <a:off x="1860922" y="2657681"/>
            <a:ext cx="5419493" cy="55297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0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 For Businesses</a:t>
            </a:r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0" name="Google Shape;2090;p33"/>
          <p:cNvSpPr/>
          <p:nvPr/>
        </p:nvSpPr>
        <p:spPr>
          <a:xfrm>
            <a:off x="668012" y="773151"/>
            <a:ext cx="369327" cy="417858"/>
          </a:xfrm>
          <a:prstGeom prst="star4">
            <a:avLst>
              <a:gd name="adj" fmla="val 23723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7C59A89-207B-C0F7-2F4A-73AC08A910B0}"/>
              </a:ext>
            </a:extLst>
          </p:cNvPr>
          <p:cNvSpPr txBox="1"/>
          <p:nvPr/>
        </p:nvSpPr>
        <p:spPr>
          <a:xfrm>
            <a:off x="4572000" y="3685383"/>
            <a:ext cx="2873822" cy="7463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Merriweather" panose="00000500000000000000" pitchFamily="2" charset="0"/>
              </a:rPr>
              <a:t>Udit Raj Kumar 	2310030232</a:t>
            </a:r>
          </a:p>
          <a:p>
            <a:pPr marL="171450" indent="-1714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 err="1">
                <a:latin typeface="Merriweather" panose="00000500000000000000" pitchFamily="2" charset="0"/>
              </a:rPr>
              <a:t>Dhroov</a:t>
            </a:r>
            <a:r>
              <a:rPr lang="en-US" sz="1000" dirty="0">
                <a:latin typeface="Merriweather" panose="00000500000000000000" pitchFamily="2" charset="0"/>
              </a:rPr>
              <a:t> Singh 	2310030150</a:t>
            </a:r>
          </a:p>
          <a:p>
            <a:pPr marL="171450" indent="-1714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Merriweather" panose="00000500000000000000" pitchFamily="2" charset="0"/>
              </a:rPr>
              <a:t>Shubham Deshpande           2310030004</a:t>
            </a:r>
          </a:p>
          <a:p>
            <a:pPr marL="171450" indent="-1714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Merriweather" panose="00000500000000000000" pitchFamily="2" charset="0"/>
              </a:rPr>
              <a:t>Ashmit Pathak 	2310030019</a:t>
            </a:r>
            <a:endParaRPr lang="en-AS" sz="1100" dirty="0">
              <a:latin typeface="Merriweather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200" y="1119257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1376017" y="1738808"/>
            <a:ext cx="6391965" cy="2151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Today, businesses generate large amounts of data, making manual</a:t>
            </a:r>
            <a:br>
              <a:rPr lang="en-US" dirty="0"/>
            </a:br>
            <a:r>
              <a:rPr lang="en-US" dirty="0"/>
              <a:t>analysis difficult and time-consuming. Traditional dashboards provide limited insights and are often not sufficient for effective decision-making.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This project presents an </a:t>
            </a:r>
            <a:r>
              <a:rPr lang="en-US" b="1" dirty="0"/>
              <a:t>AI-Driven Decision-Making Dashboard</a:t>
            </a:r>
            <a:r>
              <a:rPr lang="en-US" dirty="0"/>
              <a:t> that uses artificial intelligence to analyze business data and display meaningful insights through interactive visualizations. It helps organizations make faster, smarter, and data-driven decisions.</a:t>
            </a:r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01. Project Objective</a:t>
            </a:r>
          </a:p>
        </p:txBody>
      </p:sp>
      <p:sp>
        <p:nvSpPr>
          <p:cNvPr id="2235" name="Google Shape;2235;p39"/>
          <p:cNvSpPr/>
          <p:nvPr/>
        </p:nvSpPr>
        <p:spPr>
          <a:xfrm>
            <a:off x="1691861" y="1457739"/>
            <a:ext cx="5760280" cy="223078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To develop an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AI-driven dashboard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for intelligent business decision-making.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Transform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raw business data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into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actionable insights.</a:t>
            </a:r>
            <a:endParaRPr lang="en-US"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Enable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real-time monitoring, prediction, and analysis.</a:t>
            </a:r>
            <a:endParaRPr lang="en-US"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Support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strategic planning and operational efficiency.</a:t>
            </a:r>
            <a:endParaRPr lang="en-US"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</p:txBody>
      </p:sp>
      <p:grpSp>
        <p:nvGrpSpPr>
          <p:cNvPr id="2240" name="Google Shape;2240;p39"/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7" name="Google Shape;2247;p39"/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4" name="Google Shape;2254;p39"/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p39"/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6" name="Google Shape;2256;p39"/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B701B2D-F3B2-DE09-393B-73072EEB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139" y="1835105"/>
            <a:ext cx="1147769" cy="1147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02. Feasibility Analysis</a:t>
            </a:r>
            <a:endParaRPr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10" name="Google Shape;2410;p43"/>
          <p:cNvSpPr/>
          <p:nvPr/>
        </p:nvSpPr>
        <p:spPr>
          <a:xfrm>
            <a:off x="6706428" y="915436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1" name="Google Shape;2411;p43"/>
          <p:cNvGrpSpPr/>
          <p:nvPr/>
        </p:nvGrpSpPr>
        <p:grpSpPr>
          <a:xfrm>
            <a:off x="1390786" y="192305"/>
            <a:ext cx="877154" cy="459493"/>
            <a:chOff x="7055900" y="279450"/>
            <a:chExt cx="1820576" cy="953700"/>
          </a:xfrm>
        </p:grpSpPr>
        <p:sp>
          <p:nvSpPr>
            <p:cNvPr id="2412" name="Google Shape;2412;p4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2235;p39">
            <a:extLst>
              <a:ext uri="{FF2B5EF4-FFF2-40B4-BE49-F238E27FC236}">
                <a16:creationId xmlns:a16="http://schemas.microsoft.com/office/drawing/2014/main" id="{2FF6A5D5-17FF-D37E-D4BE-631B0774E176}"/>
              </a:ext>
            </a:extLst>
          </p:cNvPr>
          <p:cNvSpPr/>
          <p:nvPr/>
        </p:nvSpPr>
        <p:spPr>
          <a:xfrm>
            <a:off x="1115710" y="1463041"/>
            <a:ext cx="4606261" cy="297707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Data sourced from CSV files, APIs, and databases.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Uses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existing and widely adopted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technologies.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Modular architecture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ensures:</a:t>
            </a:r>
            <a:b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</a:b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-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Easy implementation</a:t>
            </a:r>
            <a:b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</a:b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-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Scalability</a:t>
            </a:r>
            <a:b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</a:b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-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Maintainability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Suitable for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academic and industry-level deployment.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</p:txBody>
      </p:sp>
      <p:sp>
        <p:nvSpPr>
          <p:cNvPr id="2417" name="Google Shape;2417;p43"/>
          <p:cNvSpPr/>
          <p:nvPr/>
        </p:nvSpPr>
        <p:spPr>
          <a:xfrm>
            <a:off x="867002" y="4176195"/>
            <a:ext cx="506700" cy="494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21002F-5EC3-42B1-71D0-4FDA500D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60" y="1453680"/>
            <a:ext cx="2878316" cy="2986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>
          <a:extLst>
            <a:ext uri="{FF2B5EF4-FFF2-40B4-BE49-F238E27FC236}">
              <a16:creationId xmlns:a16="http://schemas.microsoft.com/office/drawing/2014/main" id="{40A84F4D-F968-5D2B-08D5-EA64A63F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43">
            <a:extLst>
              <a:ext uri="{FF2B5EF4-FFF2-40B4-BE49-F238E27FC236}">
                <a16:creationId xmlns:a16="http://schemas.microsoft.com/office/drawing/2014/main" id="{7302582B-2A7B-B99B-2358-8590A4AB1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03. Societal Impact</a:t>
            </a:r>
            <a:endParaRPr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10" name="Google Shape;2410;p43">
            <a:extLst>
              <a:ext uri="{FF2B5EF4-FFF2-40B4-BE49-F238E27FC236}">
                <a16:creationId xmlns:a16="http://schemas.microsoft.com/office/drawing/2014/main" id="{8BCDBF3E-C6D0-756A-F90E-F8276A4A8B09}"/>
              </a:ext>
            </a:extLst>
          </p:cNvPr>
          <p:cNvSpPr/>
          <p:nvPr/>
        </p:nvSpPr>
        <p:spPr>
          <a:xfrm>
            <a:off x="6706428" y="915436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1" name="Google Shape;2411;p43">
            <a:extLst>
              <a:ext uri="{FF2B5EF4-FFF2-40B4-BE49-F238E27FC236}">
                <a16:creationId xmlns:a16="http://schemas.microsoft.com/office/drawing/2014/main" id="{06537F47-B068-8863-79F2-0380476BD2CB}"/>
              </a:ext>
            </a:extLst>
          </p:cNvPr>
          <p:cNvGrpSpPr/>
          <p:nvPr/>
        </p:nvGrpSpPr>
        <p:grpSpPr>
          <a:xfrm>
            <a:off x="1390786" y="192305"/>
            <a:ext cx="877154" cy="459493"/>
            <a:chOff x="7055900" y="279450"/>
            <a:chExt cx="1820576" cy="953700"/>
          </a:xfrm>
        </p:grpSpPr>
        <p:sp>
          <p:nvSpPr>
            <p:cNvPr id="2412" name="Google Shape;2412;p43">
              <a:extLst>
                <a:ext uri="{FF2B5EF4-FFF2-40B4-BE49-F238E27FC236}">
                  <a16:creationId xmlns:a16="http://schemas.microsoft.com/office/drawing/2014/main" id="{703C4C94-CBE1-5B4D-DAD2-67CFB2F7FC47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3">
              <a:extLst>
                <a:ext uri="{FF2B5EF4-FFF2-40B4-BE49-F238E27FC236}">
                  <a16:creationId xmlns:a16="http://schemas.microsoft.com/office/drawing/2014/main" id="{E8C04268-A550-EA65-F070-097B35C24D0E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3">
              <a:extLst>
                <a:ext uri="{FF2B5EF4-FFF2-40B4-BE49-F238E27FC236}">
                  <a16:creationId xmlns:a16="http://schemas.microsoft.com/office/drawing/2014/main" id="{A2FFB92A-6994-6B27-6DAD-649EB9CD435A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3">
              <a:extLst>
                <a:ext uri="{FF2B5EF4-FFF2-40B4-BE49-F238E27FC236}">
                  <a16:creationId xmlns:a16="http://schemas.microsoft.com/office/drawing/2014/main" id="{EB88C0FF-07F5-7DAD-5A56-0843E3744C83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3">
              <a:extLst>
                <a:ext uri="{FF2B5EF4-FFF2-40B4-BE49-F238E27FC236}">
                  <a16:creationId xmlns:a16="http://schemas.microsoft.com/office/drawing/2014/main" id="{111C5E6B-7235-EC55-D4CB-B02923CE8E36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2235;p39">
            <a:extLst>
              <a:ext uri="{FF2B5EF4-FFF2-40B4-BE49-F238E27FC236}">
                <a16:creationId xmlns:a16="http://schemas.microsoft.com/office/drawing/2014/main" id="{80A4BC18-B384-9579-7F39-921C064C3E10}"/>
              </a:ext>
            </a:extLst>
          </p:cNvPr>
          <p:cNvSpPr/>
          <p:nvPr/>
        </p:nvSpPr>
        <p:spPr>
          <a:xfrm>
            <a:off x="1121159" y="1470272"/>
            <a:ext cx="4604002" cy="296806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Promotes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data-driven decision.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Reduces reliance on manual analysis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and guesswork.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Improves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business efficiency and transparency.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Supports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sustainable and informed economic growth.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Beneficial for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SMEs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and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large enterprises.</a:t>
            </a:r>
            <a:endParaRPr lang="en-AS" sz="1600" b="1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</p:txBody>
      </p:sp>
      <p:sp>
        <p:nvSpPr>
          <p:cNvPr id="2417" name="Google Shape;2417;p43">
            <a:extLst>
              <a:ext uri="{FF2B5EF4-FFF2-40B4-BE49-F238E27FC236}">
                <a16:creationId xmlns:a16="http://schemas.microsoft.com/office/drawing/2014/main" id="{9FA7EBAC-BEFB-EDBB-6AB0-33CF503F9119}"/>
              </a:ext>
            </a:extLst>
          </p:cNvPr>
          <p:cNvSpPr/>
          <p:nvPr/>
        </p:nvSpPr>
        <p:spPr>
          <a:xfrm>
            <a:off x="867809" y="4172550"/>
            <a:ext cx="506700" cy="494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8FB78-3B81-41C3-10E3-3F5E693F6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60" y="1455308"/>
            <a:ext cx="2878315" cy="298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43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>
          <a:extLst>
            <a:ext uri="{FF2B5EF4-FFF2-40B4-BE49-F238E27FC236}">
              <a16:creationId xmlns:a16="http://schemas.microsoft.com/office/drawing/2014/main" id="{D196C72C-ED48-80A9-39CA-467D52D9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43">
            <a:extLst>
              <a:ext uri="{FF2B5EF4-FFF2-40B4-BE49-F238E27FC236}">
                <a16:creationId xmlns:a16="http://schemas.microsoft.com/office/drawing/2014/main" id="{851872E5-2822-7058-6D98-88EAF1BE39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04. Innovation Aspect</a:t>
            </a:r>
            <a:endParaRPr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10" name="Google Shape;2410;p43">
            <a:extLst>
              <a:ext uri="{FF2B5EF4-FFF2-40B4-BE49-F238E27FC236}">
                <a16:creationId xmlns:a16="http://schemas.microsoft.com/office/drawing/2014/main" id="{5A767D4A-177B-1404-68C6-F7475536B595}"/>
              </a:ext>
            </a:extLst>
          </p:cNvPr>
          <p:cNvSpPr/>
          <p:nvPr/>
        </p:nvSpPr>
        <p:spPr>
          <a:xfrm>
            <a:off x="6706428" y="915436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1" name="Google Shape;2411;p43">
            <a:extLst>
              <a:ext uri="{FF2B5EF4-FFF2-40B4-BE49-F238E27FC236}">
                <a16:creationId xmlns:a16="http://schemas.microsoft.com/office/drawing/2014/main" id="{0C1A6FFD-B4DC-133B-F0F5-EA0C69AD8F80}"/>
              </a:ext>
            </a:extLst>
          </p:cNvPr>
          <p:cNvGrpSpPr/>
          <p:nvPr/>
        </p:nvGrpSpPr>
        <p:grpSpPr>
          <a:xfrm>
            <a:off x="1390786" y="192305"/>
            <a:ext cx="877154" cy="459493"/>
            <a:chOff x="7055900" y="279450"/>
            <a:chExt cx="1820576" cy="953700"/>
          </a:xfrm>
        </p:grpSpPr>
        <p:sp>
          <p:nvSpPr>
            <p:cNvPr id="2412" name="Google Shape;2412;p43">
              <a:extLst>
                <a:ext uri="{FF2B5EF4-FFF2-40B4-BE49-F238E27FC236}">
                  <a16:creationId xmlns:a16="http://schemas.microsoft.com/office/drawing/2014/main" id="{66E914C5-F59C-9574-DFD6-C2840F8FC1BB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3">
              <a:extLst>
                <a:ext uri="{FF2B5EF4-FFF2-40B4-BE49-F238E27FC236}">
                  <a16:creationId xmlns:a16="http://schemas.microsoft.com/office/drawing/2014/main" id="{F2C412C6-8A6F-FDED-EE01-509E7723A785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3">
              <a:extLst>
                <a:ext uri="{FF2B5EF4-FFF2-40B4-BE49-F238E27FC236}">
                  <a16:creationId xmlns:a16="http://schemas.microsoft.com/office/drawing/2014/main" id="{039128CF-875C-3EA4-99CC-443DE6D1907A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3">
              <a:extLst>
                <a:ext uri="{FF2B5EF4-FFF2-40B4-BE49-F238E27FC236}">
                  <a16:creationId xmlns:a16="http://schemas.microsoft.com/office/drawing/2014/main" id="{3E3F2394-EA6A-A40A-AB36-3337884235A8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3">
              <a:extLst>
                <a:ext uri="{FF2B5EF4-FFF2-40B4-BE49-F238E27FC236}">
                  <a16:creationId xmlns:a16="http://schemas.microsoft.com/office/drawing/2014/main" id="{BAE2CDDD-F2F1-42ED-12B3-3CC7513A34A7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2235;p39">
            <a:extLst>
              <a:ext uri="{FF2B5EF4-FFF2-40B4-BE49-F238E27FC236}">
                <a16:creationId xmlns:a16="http://schemas.microsoft.com/office/drawing/2014/main" id="{C1E70B0E-F61E-48E7-546F-90726F35BC9D}"/>
              </a:ext>
            </a:extLst>
          </p:cNvPr>
          <p:cNvSpPr/>
          <p:nvPr/>
        </p:nvSpPr>
        <p:spPr>
          <a:xfrm>
            <a:off x="1118899" y="1454249"/>
            <a:ext cx="4606261" cy="298586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Integrates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AI and Machine Learning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into dashboards.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Provides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Predictive insights, Trend detection and Anomaly identification.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Moves beyond static reports to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intelligent analytics.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Enables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proactive decision-making.</a:t>
            </a:r>
            <a:endParaRPr sz="1600" b="1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</p:txBody>
      </p:sp>
      <p:sp>
        <p:nvSpPr>
          <p:cNvPr id="2417" name="Google Shape;2417;p43">
            <a:extLst>
              <a:ext uri="{FF2B5EF4-FFF2-40B4-BE49-F238E27FC236}">
                <a16:creationId xmlns:a16="http://schemas.microsoft.com/office/drawing/2014/main" id="{E3F44791-1E70-141E-F1A7-D614637819BD}"/>
              </a:ext>
            </a:extLst>
          </p:cNvPr>
          <p:cNvSpPr/>
          <p:nvPr/>
        </p:nvSpPr>
        <p:spPr>
          <a:xfrm>
            <a:off x="865549" y="4173124"/>
            <a:ext cx="506700" cy="494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BCE76-0EE2-785B-3809-66337711C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60" y="1454249"/>
            <a:ext cx="2886451" cy="299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20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>
          <a:extLst>
            <a:ext uri="{FF2B5EF4-FFF2-40B4-BE49-F238E27FC236}">
              <a16:creationId xmlns:a16="http://schemas.microsoft.com/office/drawing/2014/main" id="{13EEB0EE-649B-5AA5-C950-5D103D5A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43">
            <a:extLst>
              <a:ext uri="{FF2B5EF4-FFF2-40B4-BE49-F238E27FC236}">
                <a16:creationId xmlns:a16="http://schemas.microsoft.com/office/drawing/2014/main" id="{5A35936F-1734-C722-2800-2D148F20A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05. Dashboard Design</a:t>
            </a:r>
            <a:endParaRPr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10" name="Google Shape;2410;p43">
            <a:extLst>
              <a:ext uri="{FF2B5EF4-FFF2-40B4-BE49-F238E27FC236}">
                <a16:creationId xmlns:a16="http://schemas.microsoft.com/office/drawing/2014/main" id="{3BDACDDC-76F5-2F26-1EB1-42BCD094C59C}"/>
              </a:ext>
            </a:extLst>
          </p:cNvPr>
          <p:cNvSpPr/>
          <p:nvPr/>
        </p:nvSpPr>
        <p:spPr>
          <a:xfrm>
            <a:off x="6706428" y="915436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1" name="Google Shape;2411;p43">
            <a:extLst>
              <a:ext uri="{FF2B5EF4-FFF2-40B4-BE49-F238E27FC236}">
                <a16:creationId xmlns:a16="http://schemas.microsoft.com/office/drawing/2014/main" id="{63D60164-210D-DC79-3245-D3F7CE6892DB}"/>
              </a:ext>
            </a:extLst>
          </p:cNvPr>
          <p:cNvGrpSpPr/>
          <p:nvPr/>
        </p:nvGrpSpPr>
        <p:grpSpPr>
          <a:xfrm>
            <a:off x="1390786" y="192305"/>
            <a:ext cx="877154" cy="459493"/>
            <a:chOff x="7055900" y="279450"/>
            <a:chExt cx="1820576" cy="953700"/>
          </a:xfrm>
        </p:grpSpPr>
        <p:sp>
          <p:nvSpPr>
            <p:cNvPr id="2412" name="Google Shape;2412;p43">
              <a:extLst>
                <a:ext uri="{FF2B5EF4-FFF2-40B4-BE49-F238E27FC236}">
                  <a16:creationId xmlns:a16="http://schemas.microsoft.com/office/drawing/2014/main" id="{4381143D-72D2-EA4A-16BD-AF83C7B9B566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3">
              <a:extLst>
                <a:ext uri="{FF2B5EF4-FFF2-40B4-BE49-F238E27FC236}">
                  <a16:creationId xmlns:a16="http://schemas.microsoft.com/office/drawing/2014/main" id="{32D498D7-CBB7-6CCF-A101-A153BF537433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3">
              <a:extLst>
                <a:ext uri="{FF2B5EF4-FFF2-40B4-BE49-F238E27FC236}">
                  <a16:creationId xmlns:a16="http://schemas.microsoft.com/office/drawing/2014/main" id="{1E6EB5A4-7F06-8306-AC3C-49B3E528AC5D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3">
              <a:extLst>
                <a:ext uri="{FF2B5EF4-FFF2-40B4-BE49-F238E27FC236}">
                  <a16:creationId xmlns:a16="http://schemas.microsoft.com/office/drawing/2014/main" id="{9694896D-E93A-0C37-9115-9CA0F2B90121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3">
              <a:extLst>
                <a:ext uri="{FF2B5EF4-FFF2-40B4-BE49-F238E27FC236}">
                  <a16:creationId xmlns:a16="http://schemas.microsoft.com/office/drawing/2014/main" id="{9A445B24-084A-84D1-2D46-8574C932B772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2235;p39">
            <a:extLst>
              <a:ext uri="{FF2B5EF4-FFF2-40B4-BE49-F238E27FC236}">
                <a16:creationId xmlns:a16="http://schemas.microsoft.com/office/drawing/2014/main" id="{9ABB409E-37BA-4A5C-E92D-4BC8C642FDB9}"/>
              </a:ext>
            </a:extLst>
          </p:cNvPr>
          <p:cNvSpPr/>
          <p:nvPr/>
        </p:nvSpPr>
        <p:spPr>
          <a:xfrm>
            <a:off x="1118899" y="1463040"/>
            <a:ext cx="4606261" cy="296163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Clean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,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interactive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, and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user-friendly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 interface.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Real-time KPIs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and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data visualizations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Easy navigation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for technical and non-technical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Structured layout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for clear insight presentation.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Responsive and scalable design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.</a:t>
            </a:r>
            <a:endParaRPr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</p:txBody>
      </p:sp>
      <p:sp>
        <p:nvSpPr>
          <p:cNvPr id="2417" name="Google Shape;2417;p43">
            <a:extLst>
              <a:ext uri="{FF2B5EF4-FFF2-40B4-BE49-F238E27FC236}">
                <a16:creationId xmlns:a16="http://schemas.microsoft.com/office/drawing/2014/main" id="{F6CBB4D2-29FA-F338-D7E1-D8A03EE4AF9E}"/>
              </a:ext>
            </a:extLst>
          </p:cNvPr>
          <p:cNvSpPr/>
          <p:nvPr/>
        </p:nvSpPr>
        <p:spPr>
          <a:xfrm>
            <a:off x="858210" y="4186355"/>
            <a:ext cx="506700" cy="494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81820-1983-F7E8-7A2D-9F6E9A351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4"/>
          <a:stretch>
            <a:fillRect/>
          </a:stretch>
        </p:blipFill>
        <p:spPr>
          <a:xfrm>
            <a:off x="5725160" y="1449490"/>
            <a:ext cx="2878315" cy="297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55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>
          <a:extLst>
            <a:ext uri="{FF2B5EF4-FFF2-40B4-BE49-F238E27FC236}">
              <a16:creationId xmlns:a16="http://schemas.microsoft.com/office/drawing/2014/main" id="{57A0F5AF-A43E-3119-FD0E-46961678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43">
            <a:extLst>
              <a:ext uri="{FF2B5EF4-FFF2-40B4-BE49-F238E27FC236}">
                <a16:creationId xmlns:a16="http://schemas.microsoft.com/office/drawing/2014/main" id="{0B795DFF-D75C-C3D1-6433-901B20C81C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06. Conclusion</a:t>
            </a:r>
            <a:endParaRPr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10" name="Google Shape;2410;p43">
            <a:extLst>
              <a:ext uri="{FF2B5EF4-FFF2-40B4-BE49-F238E27FC236}">
                <a16:creationId xmlns:a16="http://schemas.microsoft.com/office/drawing/2014/main" id="{E80A6CF1-7718-D8B5-7E73-C5C3CCEFA4E1}"/>
              </a:ext>
            </a:extLst>
          </p:cNvPr>
          <p:cNvSpPr/>
          <p:nvPr/>
        </p:nvSpPr>
        <p:spPr>
          <a:xfrm>
            <a:off x="6706428" y="915436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1" name="Google Shape;2411;p43">
            <a:extLst>
              <a:ext uri="{FF2B5EF4-FFF2-40B4-BE49-F238E27FC236}">
                <a16:creationId xmlns:a16="http://schemas.microsoft.com/office/drawing/2014/main" id="{1AB42F13-BD49-4A3F-4A7E-0B32710F160F}"/>
              </a:ext>
            </a:extLst>
          </p:cNvPr>
          <p:cNvGrpSpPr/>
          <p:nvPr/>
        </p:nvGrpSpPr>
        <p:grpSpPr>
          <a:xfrm>
            <a:off x="1390786" y="192305"/>
            <a:ext cx="877154" cy="459493"/>
            <a:chOff x="7055900" y="279450"/>
            <a:chExt cx="1820576" cy="953700"/>
          </a:xfrm>
        </p:grpSpPr>
        <p:sp>
          <p:nvSpPr>
            <p:cNvPr id="2412" name="Google Shape;2412;p43">
              <a:extLst>
                <a:ext uri="{FF2B5EF4-FFF2-40B4-BE49-F238E27FC236}">
                  <a16:creationId xmlns:a16="http://schemas.microsoft.com/office/drawing/2014/main" id="{F88F1EB0-55E9-B7B9-3FB0-BCE73A4EDCA2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3">
              <a:extLst>
                <a:ext uri="{FF2B5EF4-FFF2-40B4-BE49-F238E27FC236}">
                  <a16:creationId xmlns:a16="http://schemas.microsoft.com/office/drawing/2014/main" id="{F2A3E783-20DE-93F5-3E12-895ECA2A0C19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3">
              <a:extLst>
                <a:ext uri="{FF2B5EF4-FFF2-40B4-BE49-F238E27FC236}">
                  <a16:creationId xmlns:a16="http://schemas.microsoft.com/office/drawing/2014/main" id="{4C84592F-BFD2-6CE9-F38C-69831A11F77D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3">
              <a:extLst>
                <a:ext uri="{FF2B5EF4-FFF2-40B4-BE49-F238E27FC236}">
                  <a16:creationId xmlns:a16="http://schemas.microsoft.com/office/drawing/2014/main" id="{C2DA67F8-D2F5-FB51-BD42-B043C07E900F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3">
              <a:extLst>
                <a:ext uri="{FF2B5EF4-FFF2-40B4-BE49-F238E27FC236}">
                  <a16:creationId xmlns:a16="http://schemas.microsoft.com/office/drawing/2014/main" id="{D8D9D3ED-7A7E-0EAB-5B52-2AB0EF14A703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2235;p39">
            <a:extLst>
              <a:ext uri="{FF2B5EF4-FFF2-40B4-BE49-F238E27FC236}">
                <a16:creationId xmlns:a16="http://schemas.microsoft.com/office/drawing/2014/main" id="{02DF5B06-305F-426D-A255-85BA17475831}"/>
              </a:ext>
            </a:extLst>
          </p:cNvPr>
          <p:cNvSpPr/>
          <p:nvPr/>
        </p:nvSpPr>
        <p:spPr>
          <a:xfrm>
            <a:off x="1113819" y="1463040"/>
            <a:ext cx="4611341" cy="296889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The project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bridges the gap between data and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Converts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complex datasets into meaningful intelligence.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Enhances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business performance and strategy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Scalable solution with strong future potential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practical and innovative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Spectral"/>
              </a:rPr>
              <a:t>AI-based system.</a:t>
            </a:r>
            <a:endParaRPr sz="1600" dirty="0">
              <a:solidFill>
                <a:schemeClr val="bg1">
                  <a:lumMod val="25000"/>
                </a:schemeClr>
              </a:solidFill>
              <a:latin typeface="Spectral"/>
            </a:endParaRPr>
          </a:p>
        </p:txBody>
      </p:sp>
      <p:sp>
        <p:nvSpPr>
          <p:cNvPr id="2417" name="Google Shape;2417;p43">
            <a:extLst>
              <a:ext uri="{FF2B5EF4-FFF2-40B4-BE49-F238E27FC236}">
                <a16:creationId xmlns:a16="http://schemas.microsoft.com/office/drawing/2014/main" id="{1AC402F7-576F-4647-60C9-86F5E4E61F96}"/>
              </a:ext>
            </a:extLst>
          </p:cNvPr>
          <p:cNvSpPr/>
          <p:nvPr/>
        </p:nvSpPr>
        <p:spPr>
          <a:xfrm>
            <a:off x="858210" y="4176195"/>
            <a:ext cx="506700" cy="494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36487-AF95-4B34-1640-64CC897A7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1" r="1172" b="3039"/>
          <a:stretch>
            <a:fillRect/>
          </a:stretch>
        </p:blipFill>
        <p:spPr>
          <a:xfrm>
            <a:off x="5725160" y="1450706"/>
            <a:ext cx="2878315" cy="298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14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>
          <a:extLst>
            <a:ext uri="{FF2B5EF4-FFF2-40B4-BE49-F238E27FC236}">
              <a16:creationId xmlns:a16="http://schemas.microsoft.com/office/drawing/2014/main" id="{E076C924-8239-1110-7F6F-075054E4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>
            <a:extLst>
              <a:ext uri="{FF2B5EF4-FFF2-40B4-BE49-F238E27FC236}">
                <a16:creationId xmlns:a16="http://schemas.microsoft.com/office/drawing/2014/main" id="{9AA89A66-D247-068C-AF8E-ED7B3569E28C}"/>
              </a:ext>
            </a:extLst>
          </p:cNvPr>
          <p:cNvSpPr/>
          <p:nvPr/>
        </p:nvSpPr>
        <p:spPr>
          <a:xfrm>
            <a:off x="545065" y="1078521"/>
            <a:ext cx="8063087" cy="298199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1" name="Google Shape;2081;p33">
            <a:extLst>
              <a:ext uri="{FF2B5EF4-FFF2-40B4-BE49-F238E27FC236}">
                <a16:creationId xmlns:a16="http://schemas.microsoft.com/office/drawing/2014/main" id="{D4511FD2-BC9E-8D9F-AE3E-0A792312DA2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26020" y="2150269"/>
            <a:ext cx="9196039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Thank You</a:t>
            </a:r>
            <a:endParaRPr dirty="0"/>
          </a:p>
        </p:txBody>
      </p:sp>
      <p:sp>
        <p:nvSpPr>
          <p:cNvPr id="2083" name="Google Shape;2083;p33">
            <a:extLst>
              <a:ext uri="{FF2B5EF4-FFF2-40B4-BE49-F238E27FC236}">
                <a16:creationId xmlns:a16="http://schemas.microsoft.com/office/drawing/2014/main" id="{7F2056EB-1C80-774B-28A9-774FEADB227D}"/>
              </a:ext>
            </a:extLst>
          </p:cNvPr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>
            <a:extLst>
              <a:ext uri="{FF2B5EF4-FFF2-40B4-BE49-F238E27FC236}">
                <a16:creationId xmlns:a16="http://schemas.microsoft.com/office/drawing/2014/main" id="{620764DD-8415-2162-E999-E1CFCA87B49C}"/>
              </a:ext>
            </a:extLst>
          </p:cNvPr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>
              <a:extLst>
                <a:ext uri="{FF2B5EF4-FFF2-40B4-BE49-F238E27FC236}">
                  <a16:creationId xmlns:a16="http://schemas.microsoft.com/office/drawing/2014/main" id="{3F251BEC-2108-C52D-166F-63E5B3C2E401}"/>
                </a:ext>
              </a:extLst>
            </p:cNvPr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>
                <a:extLst>
                  <a:ext uri="{FF2B5EF4-FFF2-40B4-BE49-F238E27FC236}">
                    <a16:creationId xmlns:a16="http://schemas.microsoft.com/office/drawing/2014/main" id="{9A1AE71B-8ECC-5378-F6B5-54A2DC7DB675}"/>
                  </a:ext>
                </a:extLst>
              </p:cNvPr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3">
                <a:extLst>
                  <a:ext uri="{FF2B5EF4-FFF2-40B4-BE49-F238E27FC236}">
                    <a16:creationId xmlns:a16="http://schemas.microsoft.com/office/drawing/2014/main" id="{1747FE77-1906-B97A-CDBA-23817FEC4960}"/>
                  </a:ext>
                </a:extLst>
              </p:cNvPr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88" name="Google Shape;2088;p33">
              <a:extLst>
                <a:ext uri="{FF2B5EF4-FFF2-40B4-BE49-F238E27FC236}">
                  <a16:creationId xmlns:a16="http://schemas.microsoft.com/office/drawing/2014/main" id="{BDF3DDB0-78B2-0D28-59B4-CCED71FB5607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9" name="Google Shape;2089;p33">
            <a:extLst>
              <a:ext uri="{FF2B5EF4-FFF2-40B4-BE49-F238E27FC236}">
                <a16:creationId xmlns:a16="http://schemas.microsoft.com/office/drawing/2014/main" id="{AA7490BD-67B2-BCDE-ECB5-4F9B29628E9E}"/>
              </a:ext>
            </a:extLst>
          </p:cNvPr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0" name="Google Shape;2090;p33">
            <a:extLst>
              <a:ext uri="{FF2B5EF4-FFF2-40B4-BE49-F238E27FC236}">
                <a16:creationId xmlns:a16="http://schemas.microsoft.com/office/drawing/2014/main" id="{D415DF26-7564-7052-2362-0E240030CF09}"/>
              </a:ext>
            </a:extLst>
          </p:cNvPr>
          <p:cNvSpPr/>
          <p:nvPr/>
        </p:nvSpPr>
        <p:spPr>
          <a:xfrm>
            <a:off x="668012" y="773151"/>
            <a:ext cx="369327" cy="417858"/>
          </a:xfrm>
          <a:prstGeom prst="star4">
            <a:avLst>
              <a:gd name="adj" fmla="val 23723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1" name="Google Shape;2091;p33">
            <a:extLst>
              <a:ext uri="{FF2B5EF4-FFF2-40B4-BE49-F238E27FC236}">
                <a16:creationId xmlns:a16="http://schemas.microsoft.com/office/drawing/2014/main" id="{ECFEB955-5176-DFE6-81B2-F740D9E3744C}"/>
              </a:ext>
            </a:extLst>
          </p:cNvPr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2" name="Google Shape;2092;p33">
            <a:extLst>
              <a:ext uri="{FF2B5EF4-FFF2-40B4-BE49-F238E27FC236}">
                <a16:creationId xmlns:a16="http://schemas.microsoft.com/office/drawing/2014/main" id="{31608DC1-C54A-B475-CAC1-FB31EC3A3363}"/>
              </a:ext>
            </a:extLst>
          </p:cNvPr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>
              <a:extLst>
                <a:ext uri="{FF2B5EF4-FFF2-40B4-BE49-F238E27FC236}">
                  <a16:creationId xmlns:a16="http://schemas.microsoft.com/office/drawing/2014/main" id="{6DC74C70-6391-04D3-3BFF-3CA50C682D7C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3">
              <a:extLst>
                <a:ext uri="{FF2B5EF4-FFF2-40B4-BE49-F238E27FC236}">
                  <a16:creationId xmlns:a16="http://schemas.microsoft.com/office/drawing/2014/main" id="{0852D56B-91E4-CF9E-74F6-9E39159306D9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3">
              <a:extLst>
                <a:ext uri="{FF2B5EF4-FFF2-40B4-BE49-F238E27FC236}">
                  <a16:creationId xmlns:a16="http://schemas.microsoft.com/office/drawing/2014/main" id="{5E9004C1-8AE0-7C8C-92BC-C8DCDA75E6EC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3">
              <a:extLst>
                <a:ext uri="{FF2B5EF4-FFF2-40B4-BE49-F238E27FC236}">
                  <a16:creationId xmlns:a16="http://schemas.microsoft.com/office/drawing/2014/main" id="{819C9CA3-F63B-BEAA-671E-A699FA0D8B9F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3">
              <a:extLst>
                <a:ext uri="{FF2B5EF4-FFF2-40B4-BE49-F238E27FC236}">
                  <a16:creationId xmlns:a16="http://schemas.microsoft.com/office/drawing/2014/main" id="{9DEC9704-E8B2-A82C-9B89-CFAAE9D937FC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8" name="Google Shape;2098;p33">
            <a:extLst>
              <a:ext uri="{FF2B5EF4-FFF2-40B4-BE49-F238E27FC236}">
                <a16:creationId xmlns:a16="http://schemas.microsoft.com/office/drawing/2014/main" id="{58736AA1-BF7B-8E85-F68F-F19E03A94881}"/>
              </a:ext>
            </a:extLst>
          </p:cNvPr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>
              <a:extLst>
                <a:ext uri="{FF2B5EF4-FFF2-40B4-BE49-F238E27FC236}">
                  <a16:creationId xmlns:a16="http://schemas.microsoft.com/office/drawing/2014/main" id="{E640596E-CAD3-EFDB-7008-A8D6FA2EF3CF}"/>
                </a:ext>
              </a:extLst>
            </p:cNvPr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3">
              <a:extLst>
                <a:ext uri="{FF2B5EF4-FFF2-40B4-BE49-F238E27FC236}">
                  <a16:creationId xmlns:a16="http://schemas.microsoft.com/office/drawing/2014/main" id="{92A03012-D1B7-4AD1-EA77-010A3EBCBF16}"/>
                </a:ext>
              </a:extLst>
            </p:cNvPr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3">
              <a:extLst>
                <a:ext uri="{FF2B5EF4-FFF2-40B4-BE49-F238E27FC236}">
                  <a16:creationId xmlns:a16="http://schemas.microsoft.com/office/drawing/2014/main" id="{5B2E4CDF-E285-EF83-0443-E02EB00E232B}"/>
                </a:ext>
              </a:extLst>
            </p:cNvPr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3">
              <a:extLst>
                <a:ext uri="{FF2B5EF4-FFF2-40B4-BE49-F238E27FC236}">
                  <a16:creationId xmlns:a16="http://schemas.microsoft.com/office/drawing/2014/main" id="{0AEEBC8A-E012-C1DF-85F2-BE6CB4F4693E}"/>
                </a:ext>
              </a:extLst>
            </p:cNvPr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24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297</TotalTime>
  <Words>324</Words>
  <Application>Microsoft Office PowerPoint</Application>
  <PresentationFormat>On-screen Show (16:9)</PresentationFormat>
  <Paragraphs>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Merriweather</vt:lpstr>
      <vt:lpstr>Merriweather Black</vt:lpstr>
      <vt:lpstr>Spectral</vt:lpstr>
      <vt:lpstr>Graph Paper Style Thesis by Slidesgo</vt:lpstr>
      <vt:lpstr>AI-Driven Decision Making Dashboard</vt:lpstr>
      <vt:lpstr>Introduction</vt:lpstr>
      <vt:lpstr>01. Project Objective</vt:lpstr>
      <vt:lpstr>02. Feasibility Analysis</vt:lpstr>
      <vt:lpstr>03. Societal Impact</vt:lpstr>
      <vt:lpstr>04. Innovation Aspect</vt:lpstr>
      <vt:lpstr>05. Dashboard Design</vt:lpstr>
      <vt:lpstr>06.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Shubham Deshpande</cp:lastModifiedBy>
  <cp:revision>6</cp:revision>
  <dcterms:modified xsi:type="dcterms:W3CDTF">2026-01-22T18:25:23Z</dcterms:modified>
</cp:coreProperties>
</file>